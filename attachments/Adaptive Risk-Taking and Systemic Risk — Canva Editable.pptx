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 Italics" charset="1" panose="02000503000000020004"/>
      <p:regular r:id="rId20"/>
    </p:embeddedFont>
    <p:embeddedFont>
      <p:font typeface="Inter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3.png" Type="http://schemas.openxmlformats.org/officeDocument/2006/relationships/image"/><Relationship Id="rId6" Target="../media/image24.jpeg" Type="http://schemas.openxmlformats.org/officeDocument/2006/relationships/image"/><Relationship Id="rId7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6182" y="1359437"/>
            <a:ext cx="9452677" cy="357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Adaptive Risk-Taking and Systemic Risk in a Heterogeneous Financial Network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6182" y="5284013"/>
            <a:ext cx="9452677" cy="130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i="true" spc="-45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Private incentives, network losses, and system-aware risk optimization</a:t>
            </a:r>
          </a:p>
          <a:p>
            <a:pPr algn="l">
              <a:lnSpc>
                <a:spcPts val="3474"/>
              </a:lnSpc>
            </a:pP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Presenter: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Himanshu Sahoo, IIT(BHU)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81702" y="7149541"/>
            <a:ext cx="902714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 question: How does the fraction and intensity of risk-taking affect private returns and systemic losses in an interconnected financial network?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6906558"/>
            <a:ext cx="38129" cy="2000326"/>
            <a:chOff x="0" y="0"/>
            <a:chExt cx="50838" cy="26671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641600"/>
                  </a:lnTo>
                  <a:cubicBezTo>
                    <a:pt x="50800" y="2655697"/>
                    <a:pt x="39370" y="2667000"/>
                    <a:pt x="25400" y="2667000"/>
                  </a:cubicBezTo>
                  <a:cubicBezTo>
                    <a:pt x="11430" y="2667000"/>
                    <a:pt x="0" y="2655570"/>
                    <a:pt x="0" y="264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91425"/>
            <a:ext cx="9452677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b="true" sz="4728" spc="-14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233460"/>
            <a:ext cx="9452677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 an interconnected financial system, an institution chooses how much risk to take, but its failure can impose losses on other institutions through interbank obligations.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3283201"/>
            <a:ext cx="9452677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Tension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8219" y="3981736"/>
            <a:ext cx="4633398" cy="2081203"/>
            <a:chOff x="0" y="0"/>
            <a:chExt cx="6177864" cy="27749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77788" cy="2774823"/>
            </a:xfrm>
            <a:custGeom>
              <a:avLst/>
              <a:gdLst/>
              <a:ahLst/>
              <a:cxnLst/>
              <a:rect r="r" b="b" t="t" l="l"/>
              <a:pathLst>
                <a:path h="2774823" w="6177788">
                  <a:moveTo>
                    <a:pt x="0" y="135636"/>
                  </a:moveTo>
                  <a:cubicBezTo>
                    <a:pt x="0" y="60706"/>
                    <a:pt x="60706" y="0"/>
                    <a:pt x="135636" y="0"/>
                  </a:cubicBezTo>
                  <a:lnTo>
                    <a:pt x="6042152" y="0"/>
                  </a:lnTo>
                  <a:cubicBezTo>
                    <a:pt x="6117082" y="0"/>
                    <a:pt x="6177788" y="60706"/>
                    <a:pt x="6177788" y="135636"/>
                  </a:cubicBezTo>
                  <a:lnTo>
                    <a:pt x="6177788" y="2639187"/>
                  </a:lnTo>
                  <a:cubicBezTo>
                    <a:pt x="6177788" y="2714117"/>
                    <a:pt x="6117082" y="2774823"/>
                    <a:pt x="6042152" y="2774823"/>
                  </a:cubicBezTo>
                  <a:lnTo>
                    <a:pt x="135636" y="2774823"/>
                  </a:lnTo>
                  <a:cubicBezTo>
                    <a:pt x="60706" y="2774950"/>
                    <a:pt x="0" y="2714244"/>
                    <a:pt x="0" y="2639187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43660" y="4218127"/>
            <a:ext cx="412253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Private Upside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3660" y="4689253"/>
            <a:ext cx="4122534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More risk can improve private returns for the individual institution.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17032" y="3981736"/>
            <a:ext cx="4633398" cy="2081203"/>
            <a:chOff x="0" y="0"/>
            <a:chExt cx="6177864" cy="2774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77788" cy="2774823"/>
            </a:xfrm>
            <a:custGeom>
              <a:avLst/>
              <a:gdLst/>
              <a:ahLst/>
              <a:cxnLst/>
              <a:rect r="r" b="b" t="t" l="l"/>
              <a:pathLst>
                <a:path h="2774823" w="6177788">
                  <a:moveTo>
                    <a:pt x="0" y="135636"/>
                  </a:moveTo>
                  <a:cubicBezTo>
                    <a:pt x="0" y="60706"/>
                    <a:pt x="60706" y="0"/>
                    <a:pt x="135636" y="0"/>
                  </a:cubicBezTo>
                  <a:lnTo>
                    <a:pt x="6042152" y="0"/>
                  </a:lnTo>
                  <a:cubicBezTo>
                    <a:pt x="6117082" y="0"/>
                    <a:pt x="6177788" y="60706"/>
                    <a:pt x="6177788" y="135636"/>
                  </a:cubicBezTo>
                  <a:lnTo>
                    <a:pt x="6177788" y="2639187"/>
                  </a:lnTo>
                  <a:cubicBezTo>
                    <a:pt x="6177788" y="2714117"/>
                    <a:pt x="6117082" y="2774823"/>
                    <a:pt x="6042152" y="2774823"/>
                  </a:cubicBezTo>
                  <a:lnTo>
                    <a:pt x="135636" y="2774823"/>
                  </a:lnTo>
                  <a:cubicBezTo>
                    <a:pt x="60706" y="2774950"/>
                    <a:pt x="0" y="2714244"/>
                    <a:pt x="0" y="2639187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072464" y="4218127"/>
            <a:ext cx="412253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Network Downside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2464" y="4689253"/>
            <a:ext cx="412253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More risk can increase network distress across interconnected institutions.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8219" y="6258344"/>
            <a:ext cx="9462211" cy="1367457"/>
            <a:chOff x="0" y="0"/>
            <a:chExt cx="12616282" cy="18232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16307" cy="1823339"/>
            </a:xfrm>
            <a:custGeom>
              <a:avLst/>
              <a:gdLst/>
              <a:ahLst/>
              <a:cxnLst/>
              <a:rect r="r" b="b" t="t" l="l"/>
              <a:pathLst>
                <a:path h="1823339" w="12616307">
                  <a:moveTo>
                    <a:pt x="0" y="136017"/>
                  </a:moveTo>
                  <a:cubicBezTo>
                    <a:pt x="0" y="60960"/>
                    <a:pt x="60960" y="0"/>
                    <a:pt x="136017" y="0"/>
                  </a:cubicBezTo>
                  <a:lnTo>
                    <a:pt x="12480290" y="0"/>
                  </a:lnTo>
                  <a:cubicBezTo>
                    <a:pt x="12555347" y="0"/>
                    <a:pt x="12616307" y="60960"/>
                    <a:pt x="12616307" y="136017"/>
                  </a:cubicBezTo>
                  <a:lnTo>
                    <a:pt x="12616307" y="1687322"/>
                  </a:lnTo>
                  <a:cubicBezTo>
                    <a:pt x="12616307" y="1762379"/>
                    <a:pt x="12555347" y="1823339"/>
                    <a:pt x="12480290" y="1823339"/>
                  </a:cubicBezTo>
                  <a:lnTo>
                    <a:pt x="136017" y="1823339"/>
                  </a:lnTo>
                  <a:cubicBezTo>
                    <a:pt x="60960" y="1823339"/>
                    <a:pt x="0" y="1762379"/>
                    <a:pt x="0" y="1687322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43660" y="6494736"/>
            <a:ext cx="8951338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The Divergence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3660" y="6965871"/>
            <a:ext cx="8951338" cy="40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privately optimal decision need not be system-optimal.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991" y="7851610"/>
            <a:ext cx="9452677" cy="1223429"/>
            <a:chOff x="0" y="0"/>
            <a:chExt cx="12603569" cy="16312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03607" cy="1631315"/>
            </a:xfrm>
            <a:custGeom>
              <a:avLst/>
              <a:gdLst/>
              <a:ahLst/>
              <a:cxnLst/>
              <a:rect r="r" b="b" t="t" l="l"/>
              <a:pathLst>
                <a:path h="1631315" w="12603607">
                  <a:moveTo>
                    <a:pt x="0" y="135128"/>
                  </a:moveTo>
                  <a:cubicBezTo>
                    <a:pt x="0" y="60452"/>
                    <a:pt x="60452" y="0"/>
                    <a:pt x="135128" y="0"/>
                  </a:cubicBezTo>
                  <a:lnTo>
                    <a:pt x="12468479" y="0"/>
                  </a:lnTo>
                  <a:cubicBezTo>
                    <a:pt x="12543028" y="0"/>
                    <a:pt x="12603607" y="60452"/>
                    <a:pt x="12603607" y="135128"/>
                  </a:cubicBezTo>
                  <a:lnTo>
                    <a:pt x="12603607" y="1496187"/>
                  </a:lnTo>
                  <a:cubicBezTo>
                    <a:pt x="12603607" y="1570736"/>
                    <a:pt x="12543155" y="1631315"/>
                    <a:pt x="12468479" y="1631315"/>
                  </a:cubicBezTo>
                  <a:lnTo>
                    <a:pt x="135128" y="1631315"/>
                  </a:lnTo>
                  <a:cubicBezTo>
                    <a:pt x="60452" y="1631188"/>
                    <a:pt x="0" y="1570736"/>
                    <a:pt x="0" y="149618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126" y="8143989"/>
            <a:ext cx="301457" cy="241144"/>
            <a:chOff x="0" y="0"/>
            <a:chExt cx="401942" cy="32152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01955" cy="321564"/>
            </a:xfrm>
            <a:custGeom>
              <a:avLst/>
              <a:gdLst/>
              <a:ahLst/>
              <a:cxnLst/>
              <a:rect r="r" b="b" t="t" l="l"/>
              <a:pathLst>
                <a:path h="321564" w="401955">
                  <a:moveTo>
                    <a:pt x="0" y="0"/>
                  </a:moveTo>
                  <a:lnTo>
                    <a:pt x="401955" y="0"/>
                  </a:lnTo>
                  <a:lnTo>
                    <a:pt x="401955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85" r="3" b="-77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76717" y="8069104"/>
            <a:ext cx="8427815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is a computational investigation, not a reproduction of a published theorem.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991" y="904856"/>
            <a:ext cx="16315868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b="true" sz="3903" spc="-11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Model: Heterogeneous Financial Network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58358" y="1909467"/>
            <a:ext cx="7304951" cy="7305132"/>
            <a:chOff x="0" y="0"/>
            <a:chExt cx="9739935" cy="9740176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739884" cy="9740138"/>
            </a:xfrm>
            <a:custGeom>
              <a:avLst/>
              <a:gdLst/>
              <a:ahLst/>
              <a:cxnLst/>
              <a:rect r="r" b="b" t="t" l="l"/>
              <a:pathLst>
                <a:path h="9740138" w="9739884">
                  <a:moveTo>
                    <a:pt x="0" y="0"/>
                  </a:moveTo>
                  <a:lnTo>
                    <a:pt x="9739884" y="0"/>
                  </a:lnTo>
                  <a:lnTo>
                    <a:pt x="9739884" y="9740138"/>
                  </a:lnTo>
                  <a:lnTo>
                    <a:pt x="0" y="974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922557" y="3044742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Network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22557" y="3484426"/>
            <a:ext cx="5395674" cy="56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 institutions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are nodes; a directed edge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i→j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means institution </a:t>
            </a:r>
            <a:r>
              <a:rPr lang="en-US" sz="1501" i="true" spc="-31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i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owes institution </a:t>
            </a:r>
            <a:r>
              <a:rPr lang="en-US" sz="1501" i="true" spc="-31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j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 interbank amount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Eij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22557" y="4173293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Each Institution Has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22557" y="4612986"/>
            <a:ext cx="5395674" cy="125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External assets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External liabilities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Xi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Interbank obligations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Bi = Σj Eij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Strategy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 ∈ {L, R}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(Low or Risky)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2557" y="5987882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Heterogeneity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2557" y="6427575"/>
            <a:ext cx="5395674" cy="56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Captured through connection probabilities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pLL, pRR, pLR, pRL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Baseline: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pLL = pRR = pw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pLR = pRL = pc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22557" y="7152913"/>
            <a:ext cx="5395674" cy="889797"/>
            <a:chOff x="0" y="0"/>
            <a:chExt cx="7194232" cy="11863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94296" cy="1186434"/>
            </a:xfrm>
            <a:custGeom>
              <a:avLst/>
              <a:gdLst/>
              <a:ahLst/>
              <a:cxnLst/>
              <a:rect r="r" b="b" t="t" l="l"/>
              <a:pathLst>
                <a:path h="1186434" w="7194296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7083044" y="0"/>
                  </a:lnTo>
                  <a:cubicBezTo>
                    <a:pt x="7144512" y="0"/>
                    <a:pt x="7194296" y="49784"/>
                    <a:pt x="7194296" y="111252"/>
                  </a:cubicBezTo>
                  <a:lnTo>
                    <a:pt x="7194296" y="1075182"/>
                  </a:lnTo>
                  <a:cubicBezTo>
                    <a:pt x="7194296" y="1136650"/>
                    <a:pt x="7144512" y="1186434"/>
                    <a:pt x="7083044" y="1186434"/>
                  </a:cubicBezTo>
                  <a:lnTo>
                    <a:pt x="111252" y="1186434"/>
                  </a:lnTo>
                  <a:cubicBezTo>
                    <a:pt x="49784" y="1186434"/>
                    <a:pt x="0" y="1136650"/>
                    <a:pt x="0" y="107518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121096" y="7367835"/>
            <a:ext cx="248136" cy="198539"/>
            <a:chOff x="0" y="0"/>
            <a:chExt cx="330848" cy="26471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30835" cy="264668"/>
            </a:xfrm>
            <a:custGeom>
              <a:avLst/>
              <a:gdLst/>
              <a:ahLst/>
              <a:cxnLst/>
              <a:rect r="r" b="b" t="t" l="l"/>
              <a:pathLst>
                <a:path h="264668" w="330835">
                  <a:moveTo>
                    <a:pt x="0" y="0"/>
                  </a:moveTo>
                  <a:lnTo>
                    <a:pt x="330835" y="0"/>
                  </a:lnTo>
                  <a:lnTo>
                    <a:pt x="330835" y="264668"/>
                  </a:lnTo>
                  <a:lnTo>
                    <a:pt x="0" y="264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39" t="0" r="-1439" b="-1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67771" y="7299046"/>
            <a:ext cx="4551931" cy="56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Network structure determines how distress can propagate through the system.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991" y="803872"/>
            <a:ext cx="16315868" cy="74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b="true" sz="4578" spc="-13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Risk → Shock → Clearing → Contagion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58517" y="1937766"/>
            <a:ext cx="10784805" cy="4935874"/>
            <a:chOff x="0" y="0"/>
            <a:chExt cx="14379740" cy="6581165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379702" cy="6581140"/>
            </a:xfrm>
            <a:custGeom>
              <a:avLst/>
              <a:gdLst/>
              <a:ahLst/>
              <a:cxnLst/>
              <a:rect r="r" b="b" t="t" l="l"/>
              <a:pathLst>
                <a:path h="6581140" w="14379702">
                  <a:moveTo>
                    <a:pt x="0" y="0"/>
                  </a:moveTo>
                  <a:lnTo>
                    <a:pt x="14379702" y="0"/>
                  </a:lnTo>
                  <a:lnTo>
                    <a:pt x="14379702" y="6581140"/>
                  </a:lnTo>
                  <a:lnTo>
                    <a:pt x="0" y="658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" t="0" r="-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016435" y="5691997"/>
            <a:ext cx="2024729" cy="39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b="true" sz="240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Contagion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64726" y="5496973"/>
            <a:ext cx="2024729" cy="78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b="true" sz="240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Payment Clearing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26885" y="5496973"/>
            <a:ext cx="2024720" cy="78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b="true" sz="240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External Shock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33570" y="5691997"/>
            <a:ext cx="2024729" cy="39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b="true" sz="2401" spc="-7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Risk Choice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7263289"/>
            <a:ext cx="7873013" cy="38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Variables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7792069"/>
            <a:ext cx="7873013" cy="132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1" spc="-37" strike="noStrike" u="non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q_i: risky-asset fraction (q_R &gt; q_L)</a:t>
            </a:r>
          </a:p>
          <a:p>
            <a:pPr algn="l" marL="326264" indent="-163132" lvl="1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1" spc="-37" strike="noStrike" u="non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A'_i = A_i[(1-q_i) + q_i R_i]: post-shock external assets</a:t>
            </a:r>
          </a:p>
          <a:p>
            <a:pPr algn="l" marL="326264" indent="-163132" lvl="1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1" spc="-37" strike="noStrike" u="non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I_i = Σ_j r_j E_ji: interbank inflows received</a:t>
            </a:r>
          </a:p>
          <a:p>
            <a:pPr algn="l" marL="326264" indent="-163132" lvl="1">
              <a:lnSpc>
                <a:spcPts val="26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1" spc="-37" strike="noStrike" u="non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F_i = A'_i + I_i: total funds available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5381" y="7263289"/>
            <a:ext cx="7873013" cy="38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b="true" sz="2251" spc="-6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Clearing Mechanism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5381" y="7792069"/>
            <a:ext cx="7873013" cy="106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recovery rate </a:t>
            </a:r>
            <a:r>
              <a:rPr lang="en-US" b="true" sz="1801" spc="-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ri = min(1, max(0, (Fi − Xi) / Bi))</a:t>
            </a:r>
            <a:r>
              <a:rPr lang="en-US" sz="1801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is the fraction of interbank obligations paid by institution </a:t>
            </a:r>
            <a:r>
              <a:rPr lang="en-US" sz="1801" i="true" spc="-37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i</a:t>
            </a:r>
            <a:r>
              <a:rPr lang="en-US" sz="1801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When ri &lt; 1, the shortfall propagates as a loss to creditor institutions.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6182" y="1091489"/>
            <a:ext cx="9452677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b="true" sz="4428" spc="-13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Measuring Systemic Risk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6182" y="2273646"/>
            <a:ext cx="4449461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Binary Measure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6182" y="2781271"/>
            <a:ext cx="4449461" cy="281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 = defaults / N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; a systemic event is declared if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 ≥ 0.30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Note: τ = 0.30 is experiment-specific, not a universal threshold.</a:t>
            </a:r>
          </a:p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However, binary systemic failure stayed at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0%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 the main risk-intensity experiment while partial distress increased substantially.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68932" y="2273646"/>
            <a:ext cx="4449461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Continuous Measures (Preferred)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2868932" y="2842012"/>
            <a:ext cx="4449461" cy="1374162"/>
          </a:xfrm>
          <a:custGeom>
            <a:avLst/>
            <a:gdLst/>
            <a:ahLst/>
            <a:cxnLst/>
            <a:rect r="r" b="b" t="t" l="l"/>
            <a:pathLst>
              <a:path h="1374162" w="4449461">
                <a:moveTo>
                  <a:pt x="0" y="0"/>
                </a:moveTo>
                <a:lnTo>
                  <a:pt x="4449461" y="0"/>
                </a:lnTo>
                <a:lnTo>
                  <a:pt x="4449461" y="1374163"/>
                </a:lnTo>
                <a:lnTo>
                  <a:pt x="0" y="137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06" r="0" b="-50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238893" y="3088072"/>
            <a:ext cx="3823906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Mean Payment Shortfall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38893" y="3595697"/>
            <a:ext cx="3823906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 = mean(1 − ri)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868932" y="4397731"/>
            <a:ext cx="4449461" cy="1374162"/>
          </a:xfrm>
          <a:custGeom>
            <a:avLst/>
            <a:gdLst/>
            <a:ahLst/>
            <a:cxnLst/>
            <a:rect r="r" b="b" t="t" l="l"/>
            <a:pathLst>
              <a:path h="1374162" w="4449461">
                <a:moveTo>
                  <a:pt x="0" y="0"/>
                </a:moveTo>
                <a:lnTo>
                  <a:pt x="4449461" y="0"/>
                </a:lnTo>
                <a:lnTo>
                  <a:pt x="4449461" y="1374162"/>
                </a:lnTo>
                <a:lnTo>
                  <a:pt x="0" y="1374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06" r="0" b="-50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238893" y="4643799"/>
            <a:ext cx="3823906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Distressed-Bank Fraction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38893" y="5151425"/>
            <a:ext cx="3823906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Share of institutions with ri &lt; 1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868932" y="5953458"/>
            <a:ext cx="4449461" cy="1700946"/>
          </a:xfrm>
          <a:custGeom>
            <a:avLst/>
            <a:gdLst/>
            <a:ahLst/>
            <a:cxnLst/>
            <a:rect r="r" b="b" t="t" l="l"/>
            <a:pathLst>
              <a:path h="1700946" w="4449461">
                <a:moveTo>
                  <a:pt x="0" y="0"/>
                </a:moveTo>
                <a:lnTo>
                  <a:pt x="4449461" y="0"/>
                </a:lnTo>
                <a:lnTo>
                  <a:pt x="4449461" y="1700946"/>
                </a:lnTo>
                <a:lnTo>
                  <a:pt x="0" y="1700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05" r="0" b="-30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238893" y="6199527"/>
            <a:ext cx="4407694" cy="33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176" spc="-67" strike="noStrike" u="non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Mean Unpaid Interbank Obligations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38893" y="6707153"/>
            <a:ext cx="3823906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= mean unpaid interbank obligations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6182" y="8062817"/>
            <a:ext cx="9452677" cy="1112015"/>
            <a:chOff x="0" y="0"/>
            <a:chExt cx="12603569" cy="14826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03607" cy="1482725"/>
            </a:xfrm>
            <a:custGeom>
              <a:avLst/>
              <a:gdLst/>
              <a:ahLst/>
              <a:cxnLst/>
              <a:rect r="r" b="b" t="t" l="l"/>
              <a:pathLst>
                <a:path h="1482725" w="1260360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2476480" y="0"/>
                  </a:lnTo>
                  <a:cubicBezTo>
                    <a:pt x="12546712" y="0"/>
                    <a:pt x="12603607" y="56896"/>
                    <a:pt x="12603607" y="127127"/>
                  </a:cubicBezTo>
                  <a:lnTo>
                    <a:pt x="12603607" y="1355598"/>
                  </a:lnTo>
                  <a:cubicBezTo>
                    <a:pt x="12603607" y="1425829"/>
                    <a:pt x="12546712" y="1482725"/>
                    <a:pt x="12476480" y="1482725"/>
                  </a:cubicBezTo>
                  <a:lnTo>
                    <a:pt x="127127" y="1482725"/>
                  </a:lnTo>
                  <a:cubicBezTo>
                    <a:pt x="56896" y="1482725"/>
                    <a:pt x="0" y="1425829"/>
                    <a:pt x="0" y="1355598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083163" y="8321678"/>
            <a:ext cx="283731" cy="226990"/>
            <a:chOff x="0" y="0"/>
            <a:chExt cx="378308" cy="30265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78333" cy="302641"/>
            </a:xfrm>
            <a:custGeom>
              <a:avLst/>
              <a:gdLst/>
              <a:ahLst/>
              <a:cxnLst/>
              <a:rect r="r" b="b" t="t" l="l"/>
              <a:pathLst>
                <a:path h="302641" w="378333">
                  <a:moveTo>
                    <a:pt x="0" y="0"/>
                  </a:moveTo>
                  <a:lnTo>
                    <a:pt x="378333" y="0"/>
                  </a:lnTo>
                  <a:lnTo>
                    <a:pt x="378333" y="302641"/>
                  </a:lnTo>
                  <a:lnTo>
                    <a:pt x="0" y="302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4" b="-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93884" y="8263023"/>
            <a:ext cx="8487985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"No systemic collapse" is not equivalent to "no systemic effect." Binary metrics can mask significant partial distress.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991" y="804758"/>
            <a:ext cx="16315868" cy="41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551" spc="-7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Experiment 1: Risk Intensity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991" y="1337967"/>
            <a:ext cx="17230954" cy="1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5"/>
              </a:lnSpc>
            </a:pPr>
            <a:r>
              <a:rPr lang="en-US" b="true" sz="975" spc="-2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Setup:</a:t>
            </a:r>
            <a:r>
              <a:rPr lang="en-US" sz="975" spc="-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qL = 0.20; qR grid from 0.20 to 0.80; 2,000 trials per point; seed 20261001.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2991" y="1555728"/>
            <a:ext cx="10605173" cy="5941247"/>
            <a:chOff x="0" y="0"/>
            <a:chExt cx="14140231" cy="792166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4140180" cy="7921625"/>
            </a:xfrm>
            <a:custGeom>
              <a:avLst/>
              <a:gdLst/>
              <a:ahLst/>
              <a:cxnLst/>
              <a:rect r="r" b="b" t="t" l="l"/>
              <a:pathLst>
                <a:path h="7921625" w="14140180">
                  <a:moveTo>
                    <a:pt x="0" y="0"/>
                  </a:moveTo>
                  <a:lnTo>
                    <a:pt x="14140180" y="0"/>
                  </a:lnTo>
                  <a:lnTo>
                    <a:pt x="14140180" y="7921625"/>
                  </a:lnTo>
                  <a:lnTo>
                    <a:pt x="0" y="792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" r="0" b="-3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563545"/>
            <a:ext cx="6976765" cy="14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5"/>
              </a:lnSpc>
              <a:spcBef>
                <a:spcPct val="0"/>
              </a:spcBef>
            </a:pPr>
            <a:r>
              <a:rPr lang="en-US" sz="975" i="true" spc="-21" strike="noStrike" u="none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Exact Monte Carlo grid results. Solid line = terminal equity; dashed line = mean unpaid interbank obligations (separate y-axes).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7803499"/>
            <a:ext cx="1202085" cy="19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2"/>
              </a:lnSpc>
              <a:spcBef>
                <a:spcPct val="0"/>
              </a:spcBef>
            </a:pPr>
            <a:r>
              <a:rPr lang="en-US" b="true" sz="1275" spc="-39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Endpoint Values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6080" y="8216779"/>
            <a:ext cx="3502933" cy="37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9"/>
              </a:lnSpc>
            </a:pPr>
            <a:r>
              <a:rPr lang="en-US" b="true" sz="3302" spc="-1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0.5039→0.5163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15" y="8696725"/>
            <a:ext cx="5389274" cy="20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2"/>
              </a:lnSpc>
            </a:pPr>
            <a:r>
              <a:rPr lang="en-US" b="true" sz="1275" spc="-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Terminal Equity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8934736"/>
            <a:ext cx="5389274" cy="1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"/>
              </a:lnSpc>
            </a:pPr>
            <a:r>
              <a:rPr lang="en-US" sz="975" spc="-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High-risk institutions as qR rises from 0.20 to 0.80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99372" y="8216779"/>
            <a:ext cx="3502933" cy="37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9"/>
              </a:lnSpc>
            </a:pPr>
            <a:r>
              <a:rPr lang="en-US" b="true" sz="3302" spc="-1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0.0257→0.0842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56207" y="8696725"/>
            <a:ext cx="5389274" cy="20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2"/>
              </a:lnSpc>
            </a:pPr>
            <a:r>
              <a:rPr lang="en-US" b="true" sz="1275" spc="-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Unpaid Obligations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56283" y="8934736"/>
            <a:ext cx="5389274" cy="1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"/>
              </a:lnSpc>
            </a:pPr>
            <a:r>
              <a:rPr lang="en-US" sz="975" spc="-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Mean unpaid interbank obligations across the qR grid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62674" y="8216779"/>
            <a:ext cx="3502933" cy="37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9"/>
              </a:lnSpc>
            </a:pPr>
            <a:r>
              <a:rPr lang="en-US" b="true" sz="3302" spc="-1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0.41%→0.94%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19509" y="8696725"/>
            <a:ext cx="5389274" cy="20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2"/>
              </a:lnSpc>
            </a:pPr>
            <a:r>
              <a:rPr lang="en-US" b="true" sz="1275" spc="-3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Distressed Banks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19585" y="8934736"/>
            <a:ext cx="5389274" cy="1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"/>
              </a:lnSpc>
            </a:pPr>
            <a:r>
              <a:rPr lang="en-US" sz="975" spc="-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Fraction of distressed institutions at endpoints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9152487"/>
            <a:ext cx="16315868" cy="328270"/>
            <a:chOff x="0" y="0"/>
            <a:chExt cx="21754490" cy="437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54464" cy="437769"/>
            </a:xfrm>
            <a:custGeom>
              <a:avLst/>
              <a:gdLst/>
              <a:ahLst/>
              <a:cxnLst/>
              <a:rect r="r" b="b" t="t" l="l"/>
              <a:pathLst>
                <a:path h="437769" w="21754464">
                  <a:moveTo>
                    <a:pt x="0" y="72644"/>
                  </a:moveTo>
                  <a:cubicBezTo>
                    <a:pt x="0" y="32512"/>
                    <a:pt x="32512" y="0"/>
                    <a:pt x="72644" y="0"/>
                  </a:cubicBezTo>
                  <a:lnTo>
                    <a:pt x="21681821" y="0"/>
                  </a:lnTo>
                  <a:cubicBezTo>
                    <a:pt x="21721953" y="0"/>
                    <a:pt x="21754464" y="32512"/>
                    <a:pt x="21754464" y="72644"/>
                  </a:cubicBezTo>
                  <a:lnTo>
                    <a:pt x="21754464" y="365125"/>
                  </a:lnTo>
                  <a:cubicBezTo>
                    <a:pt x="21754464" y="405257"/>
                    <a:pt x="21721953" y="437769"/>
                    <a:pt x="21681821" y="437769"/>
                  </a:cubicBezTo>
                  <a:lnTo>
                    <a:pt x="72644" y="437769"/>
                  </a:lnTo>
                  <a:cubicBezTo>
                    <a:pt x="32512" y="437642"/>
                    <a:pt x="0" y="405130"/>
                    <a:pt x="0" y="365125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2569" y="9243946"/>
            <a:ext cx="162049" cy="129578"/>
            <a:chOff x="0" y="0"/>
            <a:chExt cx="216065" cy="172771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216027" cy="172720"/>
            </a:xfrm>
            <a:custGeom>
              <a:avLst/>
              <a:gdLst/>
              <a:ahLst/>
              <a:cxnLst/>
              <a:rect r="r" b="b" t="t" l="l"/>
              <a:pathLst>
                <a:path h="172720" w="216027">
                  <a:moveTo>
                    <a:pt x="0" y="0"/>
                  </a:moveTo>
                  <a:lnTo>
                    <a:pt x="216027" y="0"/>
                  </a:lnTo>
                  <a:lnTo>
                    <a:pt x="216027" y="172720"/>
                  </a:lnTo>
                  <a:lnTo>
                    <a:pt x="0" y="17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92" r="-17" b="-1529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14196" y="9243946"/>
            <a:ext cx="16680170" cy="15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5"/>
              </a:lnSpc>
            </a:pPr>
            <a:r>
              <a:rPr lang="en-US" sz="975" spc="-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Systemic failure probability: </a:t>
            </a:r>
            <a:r>
              <a:rPr lang="en-US" b="true" sz="975" spc="-2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0% throughout</a:t>
            </a:r>
            <a:r>
              <a:rPr lang="en-US" sz="975" spc="-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yet partial distress grew substantially.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991" y="789727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b="true" sz="4428" spc="-13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Experiment 2: Risk Participation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991" y="1852603"/>
            <a:ext cx="17230954" cy="61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5"/>
              </a:lnSpc>
              <a:spcBef>
                <a:spcPct val="0"/>
              </a:spcBef>
            </a:pPr>
            <a:r>
              <a:rPr lang="en-US" b="true" sz="1726" spc="-36" strike="noStrike" u="non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Setup: x = fraction of institutions using the high-risk strategy. q_L = 0.20, q_R = 0.80; x = 0.05, …, 0.95; 2,000 trials per point; common random-number seeds reused across x values.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2991" y="2625890"/>
            <a:ext cx="6304807" cy="4538339"/>
            <a:chOff x="0" y="0"/>
            <a:chExt cx="8406409" cy="605111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406384" cy="6051169"/>
            </a:xfrm>
            <a:custGeom>
              <a:avLst/>
              <a:gdLst/>
              <a:ahLst/>
              <a:cxnLst/>
              <a:rect r="r" b="b" t="t" l="l"/>
              <a:pathLst>
                <a:path h="6051169" w="8406384">
                  <a:moveTo>
                    <a:pt x="0" y="0"/>
                  </a:moveTo>
                  <a:lnTo>
                    <a:pt x="8406384" y="0"/>
                  </a:lnTo>
                  <a:lnTo>
                    <a:pt x="8406384" y="6051169"/>
                  </a:lnTo>
                  <a:lnTo>
                    <a:pt x="0" y="60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0" r="0" b="-4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330335"/>
            <a:ext cx="7881052" cy="61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5"/>
              </a:lnSpc>
              <a:spcBef>
                <a:spcPct val="0"/>
              </a:spcBef>
            </a:pPr>
            <a:r>
              <a:rPr lang="en-US" sz="1726" i="true" spc="-36" strike="noStrike" u="none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Solid line = aggregate terminal equity; dashed line = mean unpaid interbank obligations. Simulated grid results.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37332" y="2593724"/>
            <a:ext cx="7881052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Observations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437332" y="3162090"/>
            <a:ext cx="7881052" cy="1374162"/>
          </a:xfrm>
          <a:custGeom>
            <a:avLst/>
            <a:gdLst/>
            <a:ahLst/>
            <a:cxnLst/>
            <a:rect r="r" b="b" t="t" l="l"/>
            <a:pathLst>
              <a:path h="1374162" w="7881052">
                <a:moveTo>
                  <a:pt x="0" y="0"/>
                </a:moveTo>
                <a:lnTo>
                  <a:pt x="7881052" y="0"/>
                </a:lnTo>
                <a:lnTo>
                  <a:pt x="7881052" y="1374163"/>
                </a:lnTo>
                <a:lnTo>
                  <a:pt x="0" y="137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3" r="0" b="-56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07302" y="3408159"/>
            <a:ext cx="7255497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Equity Rises Modestly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07302" y="3915785"/>
            <a:ext cx="7255497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Aggregate terminal equity: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0.5045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x = 0.05 →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0.5152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x = 0.95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437332" y="4717818"/>
            <a:ext cx="7881052" cy="1700946"/>
          </a:xfrm>
          <a:custGeom>
            <a:avLst/>
            <a:gdLst/>
            <a:ahLst/>
            <a:cxnLst/>
            <a:rect r="r" b="b" t="t" l="l"/>
            <a:pathLst>
              <a:path h="1700946" w="7881052">
                <a:moveTo>
                  <a:pt x="0" y="0"/>
                </a:moveTo>
                <a:lnTo>
                  <a:pt x="7881052" y="0"/>
                </a:lnTo>
                <a:lnTo>
                  <a:pt x="7881052" y="1700946"/>
                </a:lnTo>
                <a:lnTo>
                  <a:pt x="0" y="1700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62" r="0" b="-36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07302" y="4963878"/>
            <a:ext cx="7255497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Obligations Surge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07302" y="5471503"/>
            <a:ext cx="7255497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Mean unpaid interbank obligations: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0.0681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x = 0.05, minimum near x = 0.20, then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0.2259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x = 0.95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437332" y="6600330"/>
            <a:ext cx="7881052" cy="1374162"/>
          </a:xfrm>
          <a:custGeom>
            <a:avLst/>
            <a:gdLst/>
            <a:ahLst/>
            <a:cxnLst/>
            <a:rect r="r" b="b" t="t" l="l"/>
            <a:pathLst>
              <a:path h="1374162" w="7881052">
                <a:moveTo>
                  <a:pt x="0" y="0"/>
                </a:moveTo>
                <a:lnTo>
                  <a:pt x="7881052" y="0"/>
                </a:lnTo>
                <a:lnTo>
                  <a:pt x="7881052" y="1374162"/>
                </a:lnTo>
                <a:lnTo>
                  <a:pt x="0" y="1374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3" r="0" b="-56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07302" y="6846389"/>
            <a:ext cx="7255497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Distress Grows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07302" y="7354014"/>
            <a:ext cx="7255497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Distressed-bank fraction reaches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2.106%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at x = 0.95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37332" y="8178689"/>
            <a:ext cx="7881052" cy="1093851"/>
            <a:chOff x="0" y="0"/>
            <a:chExt cx="10508069" cy="14584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08107" cy="1458468"/>
            </a:xfrm>
            <a:custGeom>
              <a:avLst/>
              <a:gdLst/>
              <a:ahLst/>
              <a:cxnLst/>
              <a:rect r="r" b="b" t="t" l="l"/>
              <a:pathLst>
                <a:path h="1458468" w="1050810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0380980" y="0"/>
                  </a:lnTo>
                  <a:cubicBezTo>
                    <a:pt x="10451212" y="0"/>
                    <a:pt x="10508107" y="56896"/>
                    <a:pt x="10508107" y="127127"/>
                  </a:cubicBezTo>
                  <a:lnTo>
                    <a:pt x="10508107" y="1331341"/>
                  </a:lnTo>
                  <a:cubicBezTo>
                    <a:pt x="10508107" y="1401572"/>
                    <a:pt x="10451212" y="1458468"/>
                    <a:pt x="10380980" y="1458468"/>
                  </a:cubicBezTo>
                  <a:lnTo>
                    <a:pt x="127127" y="1458468"/>
                  </a:lnTo>
                  <a:cubicBezTo>
                    <a:pt x="56896" y="1458468"/>
                    <a:pt x="0" y="1401572"/>
                    <a:pt x="0" y="1331341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64322" y="8456619"/>
            <a:ext cx="283731" cy="226990"/>
            <a:chOff x="0" y="0"/>
            <a:chExt cx="378308" cy="30265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78333" cy="302641"/>
            </a:xfrm>
            <a:custGeom>
              <a:avLst/>
              <a:gdLst/>
              <a:ahLst/>
              <a:cxnLst/>
              <a:rect r="r" b="b" t="t" l="l"/>
              <a:pathLst>
                <a:path h="302641" w="378333">
                  <a:moveTo>
                    <a:pt x="0" y="0"/>
                  </a:moveTo>
                  <a:lnTo>
                    <a:pt x="378333" y="0"/>
                  </a:lnTo>
                  <a:lnTo>
                    <a:pt x="378333" y="302641"/>
                  </a:lnTo>
                  <a:lnTo>
                    <a:pt x="0" y="302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4" b="-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175034" y="8360731"/>
            <a:ext cx="6916360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Widespread risk-taking creates a much larger network externality than isolated risk-taking.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991" y="1096547"/>
            <a:ext cx="16315868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b="true" sz="4728" spc="-14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System-Aware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991" y="2241052"/>
            <a:ext cx="17230954" cy="40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b="true" sz="1876" spc="-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Objective:</a:t>
            </a: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1876" spc="-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J = U − λL</a:t>
            </a: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where U = relevant terminal-equity payoff; L = mean unpaid interbank obligations; λ = weight on systemic damage.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991" y="3062011"/>
            <a:ext cx="7863773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Optimal Risk Intensity (qR)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92988" y="3688461"/>
          <a:ext cx="7854737" cy="3736719"/>
        </p:xfrm>
        <a:graphic>
          <a:graphicData uri="http://schemas.openxmlformats.org/drawingml/2006/table">
            <a:tbl>
              <a:tblPr/>
              <a:tblGrid>
                <a:gridCol w="3927368"/>
                <a:gridCol w="3927368"/>
              </a:tblGrid>
              <a:tr h="619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λ (Systemic Weight)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Best Tested qR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(private only)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9454610" y="3062011"/>
            <a:ext cx="7863773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b="true" sz="2326" spc="-7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Optimal Risk Participation (x)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454610" y="3688461"/>
          <a:ext cx="7854737" cy="3736719"/>
        </p:xfrm>
        <a:graphic>
          <a:graphicData uri="http://schemas.openxmlformats.org/drawingml/2006/table">
            <a:tbl>
              <a:tblPr/>
              <a:tblGrid>
                <a:gridCol w="3927368"/>
                <a:gridCol w="3927368"/>
              </a:tblGrid>
              <a:tr h="619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λ (Systemic Weight)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Best Tested x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(private only)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2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0.30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0.20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992991" y="7946488"/>
            <a:ext cx="16315868" cy="1223429"/>
            <a:chOff x="0" y="0"/>
            <a:chExt cx="21754490" cy="16312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54592" cy="1631315"/>
            </a:xfrm>
            <a:custGeom>
              <a:avLst/>
              <a:gdLst/>
              <a:ahLst/>
              <a:cxnLst/>
              <a:rect r="r" b="b" t="t" l="l"/>
              <a:pathLst>
                <a:path h="1631315" w="21754592">
                  <a:moveTo>
                    <a:pt x="0" y="135128"/>
                  </a:moveTo>
                  <a:cubicBezTo>
                    <a:pt x="0" y="60452"/>
                    <a:pt x="60452" y="0"/>
                    <a:pt x="135128" y="0"/>
                  </a:cubicBezTo>
                  <a:lnTo>
                    <a:pt x="21619463" y="0"/>
                  </a:lnTo>
                  <a:cubicBezTo>
                    <a:pt x="21694012" y="0"/>
                    <a:pt x="21754592" y="60452"/>
                    <a:pt x="21754592" y="135128"/>
                  </a:cubicBezTo>
                  <a:lnTo>
                    <a:pt x="21754592" y="1496187"/>
                  </a:lnTo>
                  <a:cubicBezTo>
                    <a:pt x="21754592" y="1570736"/>
                    <a:pt x="21694139" y="1631315"/>
                    <a:pt x="21619463" y="1631315"/>
                  </a:cubicBezTo>
                  <a:lnTo>
                    <a:pt x="135128" y="1631315"/>
                  </a:lnTo>
                  <a:cubicBezTo>
                    <a:pt x="60452" y="1631188"/>
                    <a:pt x="0" y="1570736"/>
                    <a:pt x="0" y="149618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126" y="8238868"/>
            <a:ext cx="301457" cy="241144"/>
            <a:chOff x="0" y="0"/>
            <a:chExt cx="401942" cy="32152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1955" cy="321564"/>
            </a:xfrm>
            <a:custGeom>
              <a:avLst/>
              <a:gdLst/>
              <a:ahLst/>
              <a:cxnLst/>
              <a:rect r="r" b="b" t="t" l="l"/>
              <a:pathLst>
                <a:path h="321564" w="401955">
                  <a:moveTo>
                    <a:pt x="0" y="0"/>
                  </a:moveTo>
                  <a:lnTo>
                    <a:pt x="401955" y="0"/>
                  </a:lnTo>
                  <a:lnTo>
                    <a:pt x="401955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85" r="3" b="-77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76717" y="8163982"/>
            <a:ext cx="15291006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Internalizing systemic losses shifts the preferred choice toward less risk. These are discrete-grid optima, not continuous analytical optima or equilibrium proofs.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991" y="904856"/>
            <a:ext cx="16315868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b="true" sz="3903" spc="-11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Adaptive Dynamics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58358" y="1909467"/>
            <a:ext cx="7304951" cy="7305132"/>
            <a:chOff x="0" y="0"/>
            <a:chExt cx="9739935" cy="9740176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739884" cy="9740138"/>
            </a:xfrm>
            <a:custGeom>
              <a:avLst/>
              <a:gdLst/>
              <a:ahLst/>
              <a:cxnLst/>
              <a:rect r="r" b="b" t="t" l="l"/>
              <a:pathLst>
                <a:path h="9740138" w="9739884">
                  <a:moveTo>
                    <a:pt x="0" y="0"/>
                  </a:moveTo>
                  <a:lnTo>
                    <a:pt x="9739884" y="0"/>
                  </a:lnTo>
                  <a:lnTo>
                    <a:pt x="9739884" y="9740138"/>
                  </a:lnTo>
                  <a:lnTo>
                    <a:pt x="0" y="974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922557" y="2235670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Update Rule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922557" y="2740876"/>
            <a:ext cx="5395674" cy="343462"/>
            <a:chOff x="0" y="0"/>
            <a:chExt cx="7194232" cy="45794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194296" cy="457962"/>
            </a:xfrm>
            <a:custGeom>
              <a:avLst/>
              <a:gdLst/>
              <a:ahLst/>
              <a:cxnLst/>
              <a:rect r="r" b="b" t="t" l="l"/>
              <a:pathLst>
                <a:path h="457962" w="7194296">
                  <a:moveTo>
                    <a:pt x="0" y="0"/>
                  </a:moveTo>
                  <a:lnTo>
                    <a:pt x="7194296" y="0"/>
                  </a:lnTo>
                  <a:lnTo>
                    <a:pt x="7194296" y="457962"/>
                  </a:lnTo>
                  <a:lnTo>
                    <a:pt x="0" y="45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56" r="0" b="-125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22557" y="3241196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Illustrative Run Parameters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2557" y="3680889"/>
            <a:ext cx="5395674" cy="157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Initial participation: x0 = 0.50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Learning rate: η = 0.10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Strategies: qL = 0.20, qR = 0.80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Steps: 20; Replications: 100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 x ≈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0.5064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2557" y="5374529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Interpretation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22557" y="5814222"/>
            <a:ext cx="5395674" cy="11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risky strategy had a positive private payoff advantage, but the population update was slow. This is a </a:t>
            </a: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computational population-dynamics analogue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not behavioural calibration or proof of convergence.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22557" y="7043452"/>
            <a:ext cx="5395674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Summary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2557" y="7483145"/>
            <a:ext cx="5395674" cy="147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Private return rises with risk in the tested range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Network losses rise faster once risk is widespread or intense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System-aware objective produces lower/interior tested choices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80961"/>
            <a:ext cx="9452677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b="true" sz="3903" spc="-11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Conclusions, Limitations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949101"/>
            <a:ext cx="4484160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2430028"/>
            <a:ext cx="456352" cy="456362"/>
            <a:chOff x="0" y="0"/>
            <a:chExt cx="608470" cy="6084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584" cy="608584"/>
            </a:xfrm>
            <a:custGeom>
              <a:avLst/>
              <a:gdLst/>
              <a:ahLst/>
              <a:cxnLst/>
              <a:rect r="r" b="b" t="t" l="l"/>
              <a:pathLst>
                <a:path h="608584" w="608584">
                  <a:moveTo>
                    <a:pt x="0" y="113665"/>
                  </a:moveTo>
                  <a:cubicBezTo>
                    <a:pt x="0" y="50800"/>
                    <a:pt x="50800" y="0"/>
                    <a:pt x="113665" y="0"/>
                  </a:cubicBezTo>
                  <a:lnTo>
                    <a:pt x="494919" y="0"/>
                  </a:lnTo>
                  <a:cubicBezTo>
                    <a:pt x="557657" y="0"/>
                    <a:pt x="608584" y="50800"/>
                    <a:pt x="608584" y="113665"/>
                  </a:cubicBezTo>
                  <a:lnTo>
                    <a:pt x="608584" y="494919"/>
                  </a:lnTo>
                  <a:cubicBezTo>
                    <a:pt x="608584" y="557657"/>
                    <a:pt x="557784" y="608584"/>
                    <a:pt x="494919" y="608584"/>
                  </a:cubicBezTo>
                  <a:lnTo>
                    <a:pt x="113665" y="608584"/>
                  </a:lnTo>
                  <a:cubicBezTo>
                    <a:pt x="50800" y="608457"/>
                    <a:pt x="0" y="557657"/>
                    <a:pt x="0" y="49491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7457" y="2472033"/>
            <a:ext cx="297885" cy="372361"/>
            <a:chOff x="0" y="0"/>
            <a:chExt cx="397180" cy="496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97180" cy="49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b="true" sz="2326" spc="-7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78769" y="2483958"/>
            <a:ext cx="3898373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Incentive Divergence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8769" y="2923651"/>
            <a:ext cx="3898373" cy="83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Private incentives and systemic stability can diverge significantly in interconnected networks.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4036095"/>
            <a:ext cx="456352" cy="456362"/>
            <a:chOff x="0" y="0"/>
            <a:chExt cx="608470" cy="6084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8584" cy="608584"/>
            </a:xfrm>
            <a:custGeom>
              <a:avLst/>
              <a:gdLst/>
              <a:ahLst/>
              <a:cxnLst/>
              <a:rect r="r" b="b" t="t" l="l"/>
              <a:pathLst>
                <a:path h="608584" w="608584">
                  <a:moveTo>
                    <a:pt x="0" y="113665"/>
                  </a:moveTo>
                  <a:cubicBezTo>
                    <a:pt x="0" y="50800"/>
                    <a:pt x="50800" y="0"/>
                    <a:pt x="113665" y="0"/>
                  </a:cubicBezTo>
                  <a:lnTo>
                    <a:pt x="494919" y="0"/>
                  </a:lnTo>
                  <a:cubicBezTo>
                    <a:pt x="557657" y="0"/>
                    <a:pt x="608584" y="50800"/>
                    <a:pt x="608584" y="113665"/>
                  </a:cubicBezTo>
                  <a:lnTo>
                    <a:pt x="608584" y="494919"/>
                  </a:lnTo>
                  <a:cubicBezTo>
                    <a:pt x="608584" y="557657"/>
                    <a:pt x="557784" y="608584"/>
                    <a:pt x="494919" y="608584"/>
                  </a:cubicBezTo>
                  <a:lnTo>
                    <a:pt x="113665" y="608584"/>
                  </a:lnTo>
                  <a:cubicBezTo>
                    <a:pt x="50800" y="608457"/>
                    <a:pt x="0" y="557657"/>
                    <a:pt x="0" y="49491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67457" y="4078100"/>
            <a:ext cx="297885" cy="372361"/>
            <a:chOff x="0" y="0"/>
            <a:chExt cx="397180" cy="4964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97180" cy="49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b="true" sz="2326" spc="-7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78769" y="4090035"/>
            <a:ext cx="3898373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Continuous Measures Matter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8769" y="4529719"/>
            <a:ext cx="3898373" cy="56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Continuous distress measures reveal effects hidden by binary collapse metrics.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219" y="5371986"/>
            <a:ext cx="456352" cy="456362"/>
            <a:chOff x="0" y="0"/>
            <a:chExt cx="608470" cy="6084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8584" cy="608584"/>
            </a:xfrm>
            <a:custGeom>
              <a:avLst/>
              <a:gdLst/>
              <a:ahLst/>
              <a:cxnLst/>
              <a:rect r="r" b="b" t="t" l="l"/>
              <a:pathLst>
                <a:path h="608584" w="608584">
                  <a:moveTo>
                    <a:pt x="0" y="113665"/>
                  </a:moveTo>
                  <a:cubicBezTo>
                    <a:pt x="0" y="50800"/>
                    <a:pt x="50800" y="0"/>
                    <a:pt x="113665" y="0"/>
                  </a:cubicBezTo>
                  <a:lnTo>
                    <a:pt x="494919" y="0"/>
                  </a:lnTo>
                  <a:cubicBezTo>
                    <a:pt x="557657" y="0"/>
                    <a:pt x="608584" y="50800"/>
                    <a:pt x="608584" y="113665"/>
                  </a:cubicBezTo>
                  <a:lnTo>
                    <a:pt x="608584" y="494919"/>
                  </a:lnTo>
                  <a:cubicBezTo>
                    <a:pt x="608584" y="557657"/>
                    <a:pt x="557784" y="608584"/>
                    <a:pt x="494919" y="608584"/>
                  </a:cubicBezTo>
                  <a:lnTo>
                    <a:pt x="113665" y="608584"/>
                  </a:lnTo>
                  <a:cubicBezTo>
                    <a:pt x="50800" y="608457"/>
                    <a:pt x="0" y="557657"/>
                    <a:pt x="0" y="49491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67457" y="5413981"/>
            <a:ext cx="297885" cy="372361"/>
            <a:chOff x="0" y="0"/>
            <a:chExt cx="397180" cy="4964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97180" cy="49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b="true" sz="2326" spc="-70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78769" y="5425916"/>
            <a:ext cx="3898373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Internalizing Losses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8769" y="5865609"/>
            <a:ext cx="3898373" cy="56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Internalizing network losses changes preferred risk intensity and participation.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71032" y="1949101"/>
            <a:ext cx="4484160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Limitations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71032" y="2388794"/>
            <a:ext cx="4484160" cy="216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Simulated networks and simplified balance sheets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Two-state risky return distribution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Simplified behavioural update rule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Finite network size effects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Experiment-specific systemic-loss objective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Broad robustness study not yet completed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971032" y="4707836"/>
            <a:ext cx="4484160" cy="1159983"/>
            <a:chOff x="0" y="0"/>
            <a:chExt cx="5978881" cy="15466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78906" cy="1546606"/>
            </a:xfrm>
            <a:custGeom>
              <a:avLst/>
              <a:gdLst/>
              <a:ahLst/>
              <a:cxnLst/>
              <a:rect r="r" b="b" t="t" l="l"/>
              <a:pathLst>
                <a:path h="1546606" w="5978906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5867654" y="0"/>
                  </a:lnTo>
                  <a:cubicBezTo>
                    <a:pt x="5929122" y="0"/>
                    <a:pt x="5978906" y="49784"/>
                    <a:pt x="5978906" y="111252"/>
                  </a:cubicBezTo>
                  <a:lnTo>
                    <a:pt x="5978906" y="1435354"/>
                  </a:lnTo>
                  <a:cubicBezTo>
                    <a:pt x="5978906" y="1496822"/>
                    <a:pt x="5929122" y="1546606"/>
                    <a:pt x="5867654" y="1546606"/>
                  </a:cubicBezTo>
                  <a:lnTo>
                    <a:pt x="111252" y="1546606"/>
                  </a:lnTo>
                  <a:cubicBezTo>
                    <a:pt x="49784" y="1546606"/>
                    <a:pt x="0" y="1496822"/>
                    <a:pt x="0" y="1435354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169571" y="4922768"/>
            <a:ext cx="248136" cy="198539"/>
            <a:chOff x="0" y="0"/>
            <a:chExt cx="330848" cy="264719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330835" cy="264668"/>
            </a:xfrm>
            <a:custGeom>
              <a:avLst/>
              <a:gdLst/>
              <a:ahLst/>
              <a:cxnLst/>
              <a:rect r="r" b="b" t="t" l="l"/>
              <a:pathLst>
                <a:path h="264668" w="330835">
                  <a:moveTo>
                    <a:pt x="0" y="0"/>
                  </a:moveTo>
                  <a:lnTo>
                    <a:pt x="330835" y="0"/>
                  </a:lnTo>
                  <a:lnTo>
                    <a:pt x="330835" y="264668"/>
                  </a:lnTo>
                  <a:lnTo>
                    <a:pt x="0" y="264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39" t="0" r="-1439" b="-19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616246" y="4853978"/>
            <a:ext cx="3640407" cy="83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Monte Carlo uncertainty is conditional on the model; it does not validate the model.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71032" y="6005160"/>
            <a:ext cx="4484160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Next Steps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71032" y="6444853"/>
            <a:ext cx="4484160" cy="147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Robustness across seeds, N, shock severity, and parameter scales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Alternative systemic-loss definitions</a:t>
            </a:r>
          </a:p>
          <a:p>
            <a:pPr algn="l" marL="271886" indent="-135943" lvl="1">
              <a:lnSpc>
                <a:spcPts val="2035"/>
              </a:lnSpc>
              <a:buFont typeface="Arial"/>
              <a:buChar char="•"/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Only later consider ML/data-driven extensions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68917" y="8174393"/>
            <a:ext cx="4186276" cy="83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"The computational model is frozen; the next step is validation and deeper theoretical analysis."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971032" y="8077857"/>
            <a:ext cx="28594" cy="1060780"/>
            <a:chOff x="0" y="0"/>
            <a:chExt cx="38125" cy="14143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100" cy="1414399"/>
            </a:xfrm>
            <a:custGeom>
              <a:avLst/>
              <a:gdLst/>
              <a:ahLst/>
              <a:cxnLst/>
              <a:rect r="r" b="b" t="t" l="l"/>
              <a:pathLst>
                <a:path h="141439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395349"/>
                  </a:lnTo>
                  <a:cubicBezTo>
                    <a:pt x="38100" y="1405890"/>
                    <a:pt x="29591" y="1414399"/>
                    <a:pt x="19050" y="1414399"/>
                  </a:cubicBezTo>
                  <a:cubicBezTo>
                    <a:pt x="8509" y="1414399"/>
                    <a:pt x="0" y="1405890"/>
                    <a:pt x="0" y="139534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DAHXOxlz3WA</dc:identifier>
  <dcterms:modified xsi:type="dcterms:W3CDTF">2011-08-01T06:04:30Z</dcterms:modified>
  <cp:revision>1</cp:revision>
  <dc:title>Adaptive Risk-Taking and Systemic Risk — Canva Editable</dc:title>
</cp:coreProperties>
</file>